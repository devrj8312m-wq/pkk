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70" r:id="rId15"/>
    <p:sldId id="271" r:id="rId16"/>
    <p:sldId id="267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147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536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411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4114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ГОСУДАРСТВЕННОГО ЗАКАЗЧИКА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109115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проверенных
проектировщиков, инженеров BIM
и экспертов </a:t>
            </a:r>
            <a:r>
              <a:rPr lang="en-US" sz="44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едином контуре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50292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подбора, проверки и контроля исполнителей проектных работ. Условное депонирование средств, экспертная оценка, полный журнал действий по каждой операции.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51215" y="6080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1.0 · май 2026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Подбор проектировщиков для госзаказа сегодня —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ручной процесс с высокими рисками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системных пробела, которые увеличивают сроки и стоимость и создают риски при прохождении экспертизы.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4400" y="33832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6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Невозможно быстро проверить квалификацию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разделов проектирования (АР, КР, ОВ, ВК, ЭС, СС, BIM, ГИП/ГАП), уровни от младшего специалиста до главного — нет единого инструмента.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583680" y="33832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7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368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0" y="38404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единого реестра проверенных специалистов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0" y="4114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СРО, дипломы, сертификаты, портфолио и опыт по типам объектов раскиданы по разрозненным источникам.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14400" y="50292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6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54864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 прозрачность сделки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4400" y="57607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Техзадание, переписка, документация и оплаты — в таблицах, мессенджерах и облачных хранилищах. Подтвердить ответственность по 44-ФЗ/223-ФЗ трудно.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09360" y="47548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583680" y="50292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7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0" y="54864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Срывы сроков и экспертизы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83680" y="57607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Ошибочный выбор подрядчика обходится в десятки процентов от стоимости проекта и блокирует прохождение государственной экспертизы.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полного жизненного цикла подряда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проектирование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модулей в одном контуре заменяют разрозненные таблицы, мессенджеры и облачные хранилища.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10896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96112" y="33649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6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96112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6112" y="3858768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Проверенный реестр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96112" y="425196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разделов, типы объектов, стадии (П, РД, BIM, экспертиза, авторский надзор), используемое ПО, СРО, лицензии.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80560" y="310896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36592" y="33649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7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36592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36592" y="3858768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Многоуровневая проверка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736592" y="425196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Заявлено → документы подтверждены → экспертная проверка. Перекрёстная оценка независимыми экспертами с опытом от 10 лет.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321040" y="310896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577072" y="33649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6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577072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577072" y="3858768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проектами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577072" y="425196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 техзадания, модерация, отклики, подборка, сравнение до 4 кандидатов параллельно, контрольные точки.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507492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96112" y="53309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7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96112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₽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96112" y="5824728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Депонирование по этапам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96112" y="621792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Средства резервируются на счёте, авто-приёмка по срокам, система разрешения споров с экспертами-посредниками.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80560" y="507492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736592" y="53309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6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36592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736592" y="5824728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Защищённое хранилище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736592" y="621792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Версионирование, уровни доступа по соглашению о неразглашении, водяные знаки, история скачиваний, антивирус.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321040" y="507492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577072" y="53309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7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577072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577072" y="5824728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действий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577072" y="621792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Действия пользователей, экспертов и администраторов — в неизменяемом журнале (только дополнение, без удаления).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27">
            <a:extLst>
              <a:ext uri="{FF2B5EF4-FFF2-40B4-BE49-F238E27FC236}">
                <a16:creationId xmlns:a16="http://schemas.microsoft.com/office/drawing/2014/main" id="{60B1B4EF-EDE3-2F96-3163-5B6F46E70AE9}"/>
              </a:ext>
            </a:extLst>
          </p:cNvPr>
          <p:cNvSpPr/>
          <p:nvPr/>
        </p:nvSpPr>
        <p:spPr>
          <a:xfrm>
            <a:off x="6409944" y="2377440"/>
            <a:ext cx="5647212" cy="3519609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ФИНАНСОВАЯ МОДЕЛЬ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Депонирование, этапы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прозрачная комиссия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1325880" cy="109728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4688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Депонирование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9718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Заказчик резервирует средства при найме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75688" y="2377440"/>
            <a:ext cx="1325880" cy="109728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212848" y="24688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12848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12848" y="29718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делится на 1-5 этапов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11296" y="2377440"/>
            <a:ext cx="1325880" cy="109728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48456" y="24688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48456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Выплата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48456" y="29718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закрытия этапа: исполнителю минус комиссия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946904" y="2377440"/>
            <a:ext cx="1325880" cy="109728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84064" y="24688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84064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84064" y="29718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суммы этапа замораживается до решения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3703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КОМИССИОННАЯ ЛОГИКА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" y="3977640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6350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3977640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млн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04188" y="3977640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6350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504188" y="397764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млн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446020" y="3977640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6350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446020" y="3977640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млн+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310128" y="3977640"/>
            <a:ext cx="694944" cy="27432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6350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310128" y="3977640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96512" y="3977640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E7EAF4"/>
          </a:solidFill>
          <a:ln w="6350">
            <a:solidFill>
              <a:srgbClr val="C2C9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096512" y="3977640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60620" y="3977640"/>
            <a:ext cx="928116" cy="274320"/>
          </a:xfrm>
          <a:prstGeom prst="roundRect">
            <a:avLst>
              <a:gd name="adj" fmla="val 50000"/>
            </a:avLst>
          </a:prstGeom>
          <a:solidFill>
            <a:srgbClr val="E7EAF4"/>
          </a:solidFill>
          <a:ln w="6350">
            <a:solidFill>
              <a:srgbClr val="C2C9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960620" y="3977640"/>
            <a:ext cx="928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45720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ПЛАТЕЖЕЙ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40080" y="488289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" y="4882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32688" y="4846320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Валюта на старте: ₽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40080" y="5193792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" y="5193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32688" y="5157216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Авто-приёмка этапа через 7 дней без реакции заказчика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0080" y="5504688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40080" y="5504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32688" y="5468112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14 дней вопрос передаётся администратору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40080" y="5815584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40080" y="581558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932688" y="5779008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 монетизации: платные сервисы и дополнительные опции после запуска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6949440" y="61722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может оплачиваться заказчиком — это повышает чистую ставку проектировщика.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4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9" name="Рисунок 58">
            <a:extLst>
              <a:ext uri="{FF2B5EF4-FFF2-40B4-BE49-F238E27FC236}">
                <a16:creationId xmlns:a16="http://schemas.microsoft.com/office/drawing/2014/main" id="{70ADD78A-4E4F-FD6C-FCFE-E613BB75A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2385753"/>
            <a:ext cx="5647213" cy="35112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ТАРИФЫ И КОМИССИИ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зависит от оборота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пользователя за 12 месяцев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03504" y="2295144"/>
            <a:ext cx="7845552" cy="3730752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/home/claude/pptx_v2/expert_queu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2331720"/>
            <a:ext cx="7772400" cy="3657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60624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 проходят через условное депонирование: заказчик резервирует оплату, этапы закрываются прозрачно, спорная сумма блокируется до решения.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23774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СТАВКИ КОМИССИИ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778240" y="27340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778240" y="27340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9070848" y="26974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млн ₽ за 12 месяцев — 15%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78240" y="31912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778240" y="3191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070848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млн ₽ за 12 месяцев — 12%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778240" y="36484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778240" y="36484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070848" y="36118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млн ₽+ за 12 месяцев — 8%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778240" y="41056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778240" y="41056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070848" y="40690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Опция: комиссию может оплачивать заказчик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78240" y="45628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778240" y="4562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9070848" y="45262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 монетизации остаётся отдельным направлением после запуска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78240" y="516636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E6F5F9"/>
          </a:solidFill>
          <a:ln w="9525">
            <a:solidFill>
              <a:srgbClr val="BDE6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961120" y="53492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961120" y="55778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дней</a:t>
            </a: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авто-приёмка этапа</a:t>
            </a:r>
            <a:r>
              <a:rPr lang="en-US" sz="2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дней</a:t>
            </a: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передача администратору</a:t>
            </a:r>
            <a:endParaRPr lang="en-US" sz="2000" dirty="0"/>
          </a:p>
        </p:txBody>
      </p:sp>
      <p:sp>
        <p:nvSpPr>
          <p:cNvPr id="32" name="Shape 29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ПРОЕКТИРОВЩИКА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экран: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проекты, показатели, статус профиля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4140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32688" y="2377440"/>
            <a:ext cx="3822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Подходящие проекты с процентом совпадения и фильтрами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91693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9169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32688" y="2880360"/>
            <a:ext cx="3822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 профиля: просмотры, отклики, индекс доверия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198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419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32688" y="3383280"/>
            <a:ext cx="3822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Активные отклики со статусами и сроками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92277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39227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32688" y="3886200"/>
            <a:ext cx="3822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Приглашения от заказчиков с оценкой релевантности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42569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4256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32688" y="4389120"/>
            <a:ext cx="3822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ответа и динамика за период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029200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E6F5F9"/>
          </a:solidFill>
          <a:ln w="9525">
            <a:solidFill>
              <a:srgbClr val="BDE6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5212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 ДОВЕРИЯ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" y="5440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/ 100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86868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Документы, экспертиза, СРО подтверждены. До 100 баллов — пройти проверку личности.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83727" y="2365006"/>
            <a:ext cx="7200900" cy="3038725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5029200" y="60350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экран кабинета проектировщика — все рабочие задачи в одном месте.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1BF76E10-AADC-EDC2-7C1A-6C855C817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727" y="2376039"/>
            <a:ext cx="7200900" cy="30276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ПРОЕКТОВ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задачи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от проверенных заказчиков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9886" y="2249423"/>
            <a:ext cx="7861970" cy="4298133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321040" y="233172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 ПОДБОРА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321040" y="268833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21040" y="26883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613648" y="265176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Специализация (15 разделов)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321040" y="305409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321040" y="30540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613648" y="301752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объекта (более 10 категорий)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321040" y="34198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321040" y="3419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613648" y="338328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Стадия проектирования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321040" y="378561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321040" y="37856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613648" y="374904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Используемое ПО (BIM, CAD)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321040" y="415137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8321040" y="41513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613648" y="411480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 / удалённо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321040" y="451713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321040" y="45171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613648" y="448056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Бюджет, срок, ставка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321040" y="5029200"/>
            <a:ext cx="3246120" cy="1280160"/>
          </a:xfrm>
          <a:prstGeom prst="roundRect">
            <a:avLst>
              <a:gd name="adj" fmla="val 8571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549640" y="521208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МЕТАДАННЫЕ КАРТОЧКИ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8549640" y="54406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Специализация · стадия · СРО · уровень детализации модели · документы · бюджет · срок · крайняя дата · количество откликов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56D07C91-59D2-3377-572B-BD553AB2F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86" y="2249423"/>
            <a:ext cx="7861970" cy="42981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ЖИЗНЕННЫЙ ЦИКЛ ПРОЕКТА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публикации техзадания до закрытия —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внутри платформы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40868" y="22860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0596" y="2377440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0596" y="2596896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Черновик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0596" y="2880360"/>
            <a:ext cx="1289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 ТЗ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41068" y="22860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250796" y="2377440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250796" y="2596896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50796" y="2880360"/>
            <a:ext cx="1289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741268" y="22860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50996" y="2377440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850996" y="2596896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50996" y="2880360"/>
            <a:ext cx="1289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Подборка ИИ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1468" y="22860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51196" y="2377440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51196" y="2596896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51196" y="2880360"/>
            <a:ext cx="1289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41668" y="22860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051396" y="2377440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051396" y="2596896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51396" y="2880360"/>
            <a:ext cx="1289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Депонирование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541868" y="22860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51596" y="2377440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651596" y="2596896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Приёмка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651596" y="2880360"/>
            <a:ext cx="1289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142068" y="22860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E6F5F9"/>
          </a:solidFill>
          <a:ln w="9525">
            <a:solidFill>
              <a:srgbClr val="BDE6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251796" y="2377440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51796" y="2596896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Завершён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251796" y="2880360"/>
            <a:ext cx="1289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Выплата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233983" y="3563094"/>
            <a:ext cx="4862017" cy="2755409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 публикации техзадания — 5 шагов. Оценка качества подсказывает, как улучшить задание.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7406640" y="36576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АВТО-ЭСКАЛАЦИЯ ПО СРОКАМ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7406640" y="401421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7406640" y="40142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7699248" y="3977640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дней без реакции — авто-приёмка этапа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406640" y="447141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7406640" y="4471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7699248" y="4434840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дней — эскалация администратору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7406640" y="492861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7406640" y="49286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7699248" y="4892040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дней — отклик уходит в архив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7406640" y="55321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ШАГ — В ЖУРНАЛЕ ДЕЙСТВИЙ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406640" y="58064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· действие · исполнитель · изменения полей. История неудаляемая, выгрузка для отчётности.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2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B8D84BD0-0563-C2E1-8135-8136C3B41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983" y="3563095"/>
            <a:ext cx="4831689" cy="27554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ПРОЗРАЧНОСТЬ ВЫБОРА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Объяснимый подбор —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почему именно этот кандидат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совпадение обосновано: специализации, опыт, ПО, ограничения. Решение можно приложить к материалам конкурсной комиссии.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68081" y="3055551"/>
            <a:ext cx="6001998" cy="3273552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63367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проекта: разбор релевантности, депонирование, срок исполнения, тип контракта.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0" y="310896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УМНЫЙ ПОДБОР УЧИТЫВАЕТ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Основную специализацию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698480" y="3493008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E6F5F9"/>
          </a:solidFill>
          <a:ln w="6350">
            <a:solidFill>
              <a:srgbClr val="BDE6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698480" y="3493008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863840" y="38862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объекта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698480" y="3950208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E6F5F9"/>
          </a:solidFill>
          <a:ln w="6350">
            <a:solidFill>
              <a:srgbClr val="BDE6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0698480" y="3950208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863840" y="4343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проверки и уровень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698480" y="4407408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E6F5F9"/>
          </a:solidFill>
          <a:ln w="6350">
            <a:solidFill>
              <a:srgbClr val="BDE6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0698480" y="4407408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863840" y="4800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ПО и уровень BIM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698480" y="4864608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E7EAF4"/>
          </a:solidFill>
          <a:ln w="6350">
            <a:solidFill>
              <a:srgbClr val="C2C9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0698480" y="4864608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863840" y="52578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 доверия / экспертный балл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0698480" y="5321808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E6F5F9"/>
          </a:solidFill>
          <a:ln w="6350">
            <a:solidFill>
              <a:srgbClr val="BDE6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10698480" y="5321808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863840" y="5715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 и доступность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0698480" y="5779008"/>
            <a:ext cx="772668" cy="27432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6350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698480" y="5779008"/>
            <a:ext cx="77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ED055259-C962-CD67-0BD5-04DB544F7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472" y="3050100"/>
            <a:ext cx="5997607" cy="327027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СПЕЦИАЛИСТОВ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исполнителя по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профилю, проверке, портфолио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94944" y="2368296"/>
            <a:ext cx="7363206" cy="4233672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778240" y="23774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КАРТОЧКЕ СПЕЦИАЛИСТА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778240" y="27340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778240" y="27340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070848" y="269748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Аватар, имя, @-логин, профессиональная роль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78240" y="323697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778240" y="32369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070848" y="320040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 доверия и экспертный балл (0–100)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778240" y="373989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778240" y="3739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070848" y="370332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Отметки: «эксперт подтвердил», «документы», «ГИП подтверждён»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778240" y="424281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778240" y="42428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9070848" y="420624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Основные специализации с тегами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78240" y="474573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8778240" y="47457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9070848" y="470916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 и доступность к работе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778240" y="52486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778240" y="52486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070848" y="521208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 ★ и ставка ₽/ч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778240" y="575157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778240" y="57515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9070848" y="571500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 «В подборку» и «Пригласить»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1E0EEAA3-5129-5A18-E433-FE180A9FC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373076"/>
            <a:ext cx="7363206" cy="42323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КАНДИДАТОВ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4 кандидатов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параллельно по 14 параметрам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24037" y="2368296"/>
            <a:ext cx="8153126" cy="4248635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92640" y="23774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СРАВНЕНИЯ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9692640" y="271576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875520" y="26700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Совпадение, %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692640" y="308152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875520" y="3035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и спец-я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692640" y="344728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875520" y="34015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Отметки о проверке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692640" y="381304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875520" y="3767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 и эксперт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92640" y="417880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9875520" y="4133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9692640" y="454456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875520" y="4498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Завершено проектов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692640" y="491032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9875520" y="4864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ответа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692640" y="527608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9875520" y="52303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692640" y="564184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9875520" y="5596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 · доступность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692640" y="600760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9875520" y="5961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ПО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20602657-60C6-671E-1159-5876114C4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037" y="2383259"/>
            <a:ext cx="8153126" cy="42336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ЗАКАЗЧИКА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найма: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проекты, отклики, депонирование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05213" y="2194329"/>
            <a:ext cx="7329441" cy="3749194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" y="63367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проекты, отклики и состояние счетов депонирования — на одном экране.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744312" y="2194329"/>
            <a:ext cx="4264503" cy="3749193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7863840" y="6336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работы из портфолио: метаданные, экспертная проверка, уровни доступа.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DAAA5D7-F592-6E04-3B45-078FC36EC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14" y="2194329"/>
            <a:ext cx="7329441" cy="3749194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9C629AB-C253-0E7E-7385-62B73DA4CC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312" y="2194328"/>
            <a:ext cx="4264503" cy="37491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СПЕЦИАЛИСТА · СПЕЦИАЛИЗАЦИИ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Структурированные специализации,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стек ПО и типы объектов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03504" y="2295144"/>
            <a:ext cx="7845552" cy="4005072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/home/claude/pptx_v2/profile_spec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2331720"/>
            <a:ext cx="7772400" cy="3931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6336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специализация подтверждена. Стек ПО — с уровнем владения. Типы объектов и отрасли — отдельные срезы для поиска.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23774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УРОВНЯ ПОДБОРА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778240" y="27340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778240" y="27340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9070848" y="269748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Специализации (АР ГАП, фасады и т. д.)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78240" y="323697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778240" y="32369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070848" y="320040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ПО с уровнем владения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778240" y="373989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778240" y="3739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070848" y="370332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Типы объектов (жилые, БЦ, ТЦ)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778240" y="424281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778240" y="42428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070848" y="420624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Отрасли (жилая, коммерческая, общественные)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78240" y="521208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E6F5F9"/>
          </a:solidFill>
          <a:ln w="9525">
            <a:solidFill>
              <a:srgbClr val="BDE6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961120" y="53949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ЗАКАЗЧИКУ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8961120" y="56235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точно отфильтровать исполнителей по нужному ПО, типу объекта и квалификации.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СПЕЦИАЛИСТА · ОПЫТ И ОБРАЗОВАНИЕ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Хронология карьеры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подтверждёнными местами работы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03504" y="2295144"/>
            <a:ext cx="7845552" cy="4005072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/home/claude/pptx_v2/profile_experienc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2331720"/>
            <a:ext cx="7772400" cy="3931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6336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работы по годам: должность, организация, ключевые достижения. Проверяется при подтверждении профиля.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23774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ВИДНО В ОПЫТЕ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778240" y="27340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778240" y="27340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9070848" y="26974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Периоды работы (год — год)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78240" y="31912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778240" y="3191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070848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Должности и роли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778240" y="36484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778240" y="36484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070848" y="36118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 (с верификацией)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778240" y="41056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778240" y="41056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070848" y="40690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проекты и достижения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78240" y="456285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778240" y="4562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9070848" y="45262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 и сертификаты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78240" y="521208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E7EAF4"/>
          </a:solidFill>
          <a:ln w="9525">
            <a:solidFill>
              <a:srgbClr val="C2C9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961120" y="53949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B2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ОТ ПРИПИСОК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961120" y="56235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 сверяет указанные места работы с реестрами и проектной документацией.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92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292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9784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СПЕЦИАЛИСТА · ОТЗЫВЫ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 по пяти критериям,</a:t>
            </a:r>
            <a:r>
              <a:rPr lang="en-US" sz="3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только после реальной сделки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03504" y="2295144"/>
            <a:ext cx="7845552" cy="4005072"/>
          </a:xfrm>
          <a:prstGeom prst="rect">
            <a:avLst/>
          </a:prstGeom>
          <a:solidFill>
            <a:srgbClr val="E6ECF3"/>
          </a:solidFill>
          <a:ln w="9525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/home/claude/pptx_v2/profile_review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2331720"/>
            <a:ext cx="7772400" cy="3931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6336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работы, соблюдение сроков, коммуникация, готовность к правкам, профессионализм. Отзыв оставляет только заказчик с завершённой сделкой.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23774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КРИТЕРИЕВ ОЦЕНКИ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778240" y="2788920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961120" y="27157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работы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78240" y="3172968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961120" y="3099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Соблюдение сроков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78240" y="3557016"/>
            <a:ext cx="91440" cy="91440"/>
          </a:xfrm>
          <a:prstGeom prst="ellipse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961120" y="34838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Коммуникация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778240" y="3941064"/>
            <a:ext cx="91440" cy="91440"/>
          </a:xfrm>
          <a:prstGeom prst="ellipse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961120" y="3867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к правкам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778240" y="4325112"/>
            <a:ext cx="91440" cy="91440"/>
          </a:xfrm>
          <a:prstGeom prst="ellipse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961120" y="4251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Профессионализм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778240" y="4937760"/>
            <a:ext cx="2834640" cy="1463040"/>
          </a:xfrm>
          <a:prstGeom prst="roundRect">
            <a:avLst>
              <a:gd name="adj" fmla="val 7500"/>
            </a:avLst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961120" y="5120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ОТ НАКРУТОК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961120" y="543153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961120" y="54315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9253728" y="5394960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 только после оплаты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61120" y="5724144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961120" y="57241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9253728" y="56875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Двусторонняя оценка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961120" y="6016752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8961120" y="6016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9253728" y="59801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спорных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411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00200" y="4114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ПРОЕКТИРОВЩИКИ · BIM · ЭКСПЕРТИЗА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182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92808"/>
            <a:ext cx="201168" cy="36576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СЛЕДУЮЩИЕ ШАГИ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F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предлагаем </a:t>
            </a:r>
            <a:r>
              <a:rPr lang="en-US" sz="4000" b="1" dirty="0">
                <a:solidFill>
                  <a:srgbClr val="0E7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обсудить дальше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840480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ВЗАИМОДЕЙСТВИЯ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" y="419709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41970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4160520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доступ к платформе на [N] недель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544568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45445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61288" y="4507992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Пилотный проект на ограниченной группе подрядчиков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" y="4892040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0" y="48920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61288" y="4855464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Детальное техзадание под требования заказчика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5239512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68680" y="52395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61288" y="5202936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ТЭО проекта внедрения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DE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83680" y="3840480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A9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ОТ ЗАКАЗЧИКА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583680" y="4197096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83680" y="41970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76288" y="4160520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безопасности (ФСТЭК, ФСБ — если применимо)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83680" y="4544568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83680" y="45445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876288" y="4507992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целевых интеграций (СЭД, ERP, реестры)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583680" y="4892040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583680" y="48920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76288" y="4855464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Ожидаемый объём: подрядчиков, проектов, пользователей в год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583680" y="5239512"/>
            <a:ext cx="201168" cy="201168"/>
          </a:xfrm>
          <a:prstGeom prst="ellipse">
            <a:avLst/>
          </a:prstGeom>
          <a:solidFill>
            <a:srgbClr val="ECF5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83680" y="52395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8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76288" y="5202936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A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использования с приоритетом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0" y="6784848"/>
            <a:ext cx="7315017" cy="73152"/>
          </a:xfrm>
          <a:prstGeom prst="rect">
            <a:avLst/>
          </a:prstGeom>
          <a:solidFill>
            <a:srgbClr val="18A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7315017" y="6784848"/>
            <a:ext cx="3413675" cy="73152"/>
          </a:xfrm>
          <a:prstGeom prst="rect">
            <a:avLst/>
          </a:prstGeom>
          <a:solidFill>
            <a:srgbClr val="1B2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0728692" y="6784848"/>
            <a:ext cx="1463003" cy="73152"/>
          </a:xfrm>
          <a:prstGeom prst="rect">
            <a:avLst/>
          </a:prstGeom>
          <a:solidFill>
            <a:srgbClr val="97C9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1443</Words>
  <Application>Microsoft Office PowerPoint</Application>
  <PresentationFormat>Широкоэкранный</PresentationFormat>
  <Paragraphs>350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PPK · Презентация для государственного заказчика</dc:title>
  <dc:subject>PptxGenJS Presentation</dc:subject>
  <dc:creator>PPK</dc:creator>
  <cp:lastModifiedBy>Евгений</cp:lastModifiedBy>
  <cp:revision>4</cp:revision>
  <dcterms:created xsi:type="dcterms:W3CDTF">2026-05-20T19:43:50Z</dcterms:created>
  <dcterms:modified xsi:type="dcterms:W3CDTF">2026-05-21T09:23:02Z</dcterms:modified>
</cp:coreProperties>
</file>