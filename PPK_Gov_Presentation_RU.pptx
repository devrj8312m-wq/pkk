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3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411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ГОСУДАРСТВЕННОГО ЗАКАЗЧИКА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09115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проверенных
проектировщиков, инженеров BIM
и экспертов </a:t>
            </a:r>
            <a:r>
              <a:rPr lang="en-US" sz="44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едином контуре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подбора, проверки и контроля исполнителей проектных работ. Условное депонирование средств, экспертная оценка, полный журнал действий по каждой операции.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51215" y="6080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1.0 · май 2026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проектировщиков для госзаказа сегодня —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ручной процесс с высокими рисками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системных пробела, которые увеличивают сроки и стоимость и создают риски при прохождении экспертизы.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быстро проверить квалификацию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разделов проектирования (АР, КР, ОВ, ВК, ЭС, СС, BIM, ГИП/ГАП), уровни от младшего специалиста до главного — нет единого инструмента.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840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реестра проверенных специалистов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СРО, дипломы, сертификаты, портфолио и опыт по типам объектов раскиданы по разрозненным источникам.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5029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486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прозрачность сделки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57607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Техзадание, переписка, документация и оплаты — в таблицах, мессенджерах и облачных хранилищах. Подтвердить ответственность по 44-ФЗ/223-ФЗ трудно.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83680" y="5029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5486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Срывы сроков и экспертизы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83680" y="57607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Ошибочный выбор подрядчика обходится в десятки процентов от стоимости проекта и блокирует прохождение государственной экспертизы.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среда полного жизненного цикла подряда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проектирование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модулей в одном контуре заменяют разрозненные таблицы, мессенджеры и облачные хранилища.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611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Проверенный реестр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разделов, типы объектов, стадии (П, РД, BIM, экспертиза, авторский надзор), используемое ПО, СРО, лицензии.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3659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3659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3659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Многоуровневая проверка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3659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Заявлено → документы подтверждены → экспертная проверка. Перекрёстная оценка независимыми экспертами с опытом от 10 лет.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2104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7707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7707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707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проектами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7707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техзадания, модерация, отклики, подборка, сравнение до 4 кандидатов параллельно, контрольные точки.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611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611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Депонирование по этапам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11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резервируются на счёте, авто-приёмка по срокам, система разрешения споров с экспертами-посредниками.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3659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659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3659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Защищённое хранилище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73659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Версионирование, уровни доступа по соглашению о неразглашении, водяные знаки, история скачиваний, антивирус.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7707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7707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707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журнал действий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57707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Действия пользователей, экспертов и администраторов — в неизменяемом журнале (только дополнение, без удаления).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27">
            <a:extLst>
              <a:ext uri="{FF2B5EF4-FFF2-40B4-BE49-F238E27FC236}">
                <a16:creationId xmlns:a16="http://schemas.microsoft.com/office/drawing/2014/main" id="{60B1B4EF-EDE3-2F96-3163-5B6F46E70AE9}"/>
              </a:ext>
            </a:extLst>
          </p:cNvPr>
          <p:cNvSpPr/>
          <p:nvPr/>
        </p:nvSpPr>
        <p:spPr>
          <a:xfrm>
            <a:off x="6409944" y="2377440"/>
            <a:ext cx="5647212" cy="3519609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ПОДРЯДЧИКОВ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доверия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независимая экспертная оценка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Личность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одноразовый код, почта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75688" y="237744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12848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12848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12848" y="2971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СРО, НОПРИЗ, НОСТРОЙ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11296" y="237744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48456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48456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48456" y="2971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Экспертная оценка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46904" y="237744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84064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84064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Квалификация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84064" y="2971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Профессиональная проверка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КВАЛИФИКАЦИОННЫЕ УРОВНИ (ПО ЕКС)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97764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Младший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04188" y="397764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504188" y="397764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Инж. III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46020" y="3977640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46020" y="397764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Инж. II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0128" y="3977640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0128" y="397764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Инж. 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96512" y="3977640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7EAF4"/>
          </a:solidFill>
          <a:ln w="6350">
            <a:solidFill>
              <a:srgbClr val="C2C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96512" y="397764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60620" y="3977640"/>
            <a:ext cx="928116" cy="274320"/>
          </a:xfrm>
          <a:prstGeom prst="roundRect">
            <a:avLst>
              <a:gd name="adj" fmla="val 50000"/>
            </a:avLst>
          </a:prstGeom>
          <a:solidFill>
            <a:srgbClr val="E7EAF4"/>
          </a:solidFill>
          <a:ln w="6350">
            <a:solidFill>
              <a:srgbClr val="C2C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60620" y="3977640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 / ГАП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4572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 ПРОВЕРКИ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48828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4882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2688" y="4846320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Стандартные чек-листы и декларация конфликта интересов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5193792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" y="5193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32688" y="5157216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проверка 5% случайных решений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504688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32688" y="5468112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Двухуровневая проверка для сделок с высоким риском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5815584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" y="5815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32688" y="5779008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Обжалование решения у другого эксперта или администратора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949440" y="6172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 индексом доверия 90 и экспертным баллом 94, отметками о проверке и подтверждениями.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70ADD78A-4E4F-FD6C-FCFE-E613BB75A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385753"/>
            <a:ext cx="5647213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ЭКСПЕРТА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проверок: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контроль сроков и качества решений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3504" y="2295144"/>
            <a:ext cx="7845552" cy="373075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pptx_v2/expert_que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7772400" cy="3657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062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проверок эксперта: тип проверки, заявитель, контекст, приоритет, срок.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ЭКСПЕРТ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0" y="27340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7824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0848" y="2697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профиль и портфолио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78240" y="31912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78240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070848" y="31546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Подтверждает документы СРО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36484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78240" y="3648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70848" y="36118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Оценивает заявки на повышение уровня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78240" y="41056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7824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070848" y="40690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кейсы и BIM-работы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0" y="45628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778240" y="4562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070848" y="45262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Проводит профильное интервью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778240" y="516636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961120" y="5349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961120" y="5577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решено за 30 дней
</a:t>
            </a:r>
            <a:r>
              <a:rPr lang="en-US" sz="2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процент одобрения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ПРОЕКТИРОВЩИКА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экран: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проекты, показатели, статус профиля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23774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Подходящие проекты с процентом совпадения и фильтрами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288036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профиля: просмотры, отклики, индекс доверия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2688" y="338328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отклики со статусами и сроками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922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388620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Приглашения от заказчиков с оценкой релевантности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256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425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" y="438912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ответа и динамика за период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ДОВЕРИЯ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5440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100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68680" y="5897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Документы, экспертиза, СРО подтверждены. До 100 баллов — пройти проверку личности.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83727" y="2365006"/>
            <a:ext cx="7200900" cy="3038725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029200" y="6035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 кабинета проектировщика — все рабочие задачи в одном месте.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BF76E10-AADC-EDC2-7C1A-6C855C817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27" y="2376039"/>
            <a:ext cx="7200900" cy="3027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ПРОЕКТОВ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задачи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проверенных заказчиков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9886" y="2249423"/>
            <a:ext cx="7861970" cy="4298133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321040" y="2331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ПОДБОРА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21040" y="26883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21040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613648" y="2651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Специализация (15 разделов)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21040" y="30540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21040" y="3054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13648" y="30175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объекта (более 10 категорий)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21040" y="34198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21040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13648" y="3383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проектирования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321040" y="37856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321040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13648" y="37490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Используемое ПО (BIM, CAD)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321040" y="41513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321040" y="4151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13648" y="41148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/ удалённо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321040" y="45171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321040" y="4517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13648" y="44805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Бюджет, срок, ставка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321040" y="5029200"/>
            <a:ext cx="3246120" cy="128016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549640" y="52120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 КАРТОЧКИ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49640" y="54406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Специализация · стадия · СРО · уровень детализации модели · документы · бюджет · срок · крайняя дата · количество откликов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6D07C91-59D2-3377-572B-BD553AB2F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6" y="2249423"/>
            <a:ext cx="7861970" cy="42981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ПРОЕКТА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публикации техзадания до закрытия —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внутри платформы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08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5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05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05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ТЗ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10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507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507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507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12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509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509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509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Подборка ИИ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14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511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511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511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16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513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513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513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Депонирование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418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515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515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515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1420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2517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517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517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Выплата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233983" y="3563094"/>
            <a:ext cx="4862017" cy="2755409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публикации техзадания — 5 шагов. Оценка качества подсказывает, как улучшить задание.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406640" y="3657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АВТО-ЭСКАЛАЦИЯ ПО СРОКАМ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406640" y="40142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406640" y="4014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699248" y="39776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дней без реакции — авто-приёмка этапа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406640" y="44714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406640" y="4471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699248" y="44348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дней — эскалация администратору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406640" y="49286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406640" y="4928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699248" y="48920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дней — отклик уходит в архив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7406640" y="5532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— В ЖУРНАЛЕ ДЕЙСТВИЙ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406640" y="5806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· действие · исполнитель · изменения полей. История неудаляемая, выгрузка для отчётности.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8D84BD0-0563-C2E1-8135-8136C3B41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83" y="3563095"/>
            <a:ext cx="4831689" cy="27554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ВЫБОРА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Объяснимый подбор —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почему именно этот кандидат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совпадение обосновано: специализации, опыт, ПО, ограничения. Решение можно приложить к материалам конкурсной комиссии.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68081" y="3055551"/>
            <a:ext cx="6001998" cy="327355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проекта: разбор релевантности, депонирование, срок исполнения, тип контракта.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63840" y="31089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ПОДБОР УЧИТЫВАЕТ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63840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Основную специализацию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698480" y="34930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6F5F9"/>
          </a:solidFill>
          <a:ln w="6350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698480" y="34930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63840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объекта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698480" y="39502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6F5F9"/>
          </a:solidFill>
          <a:ln w="6350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698480" y="39502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6384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проверки и уровень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698480" y="44074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6F5F9"/>
          </a:solidFill>
          <a:ln w="6350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698480" y="44074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63840" y="4800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ПО и уровень BIM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698480" y="48646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7EAF4"/>
          </a:solidFill>
          <a:ln w="6350">
            <a:solidFill>
              <a:srgbClr val="C2C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698480" y="48646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863840" y="5257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доверия / экспертный балл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698480" y="53218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6F5F9"/>
          </a:solidFill>
          <a:ln w="6350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698480" y="53218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863840" y="5715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и доступность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698480" y="57790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698480" y="57790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D055259-C962-CD67-0BD5-04DB544F7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72" y="3050100"/>
            <a:ext cx="5997607" cy="32702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СПЕЦИАЛИСТОВ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исполнителя по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профилю, проверке, портфолио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94944" y="2368296"/>
            <a:ext cx="7363206" cy="423367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КАРТОЧКЕ СПЕЦИАЛИСТА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778240" y="27340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77824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070848" y="26974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Аватар, имя, @-логин, профессиональная роль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32369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70848" y="32004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доверия и экспертный балл (0–100)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78240" y="37398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7824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070848" y="37033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Отметки: «эксперт подтвердил», «документы», «ГИП подтверждён»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78240" y="42428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778240" y="4242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070848" y="42062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специализации с тегами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778240" y="47457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78240" y="4745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070848" y="47091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и доступность к работе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778240" y="52486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778240" y="5248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070848" y="52120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★ и ставка ₽/ч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778240" y="57515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778240" y="5751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070848" y="57150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«В подборку» и «Пригласить»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E0EEAA3-5129-5A18-E433-FE180A9F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373076"/>
            <a:ext cx="7363206" cy="42323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КАНДИДАТОВ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4 кандидатов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параллельно по 14 параметрам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24037" y="2368296"/>
            <a:ext cx="8153126" cy="4248635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9264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СРАВНЕНИЯ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692640" y="271576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75520" y="2670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Совпадение, 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692640" y="308152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875520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и спец-я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692640" y="344728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87552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Отметки о проверке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692640" y="381304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87552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и эксперт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92640" y="417880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87552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692640" y="454456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875520" y="4498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Завершено проектов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692640" y="491032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875520" y="4864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ответа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692640" y="527608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875520" y="5230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692640" y="564184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875520" y="5596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· доступность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692640" y="600760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875520" y="5961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ПО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0602657-60C6-671E-1159-5876114C4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37" y="2383259"/>
            <a:ext cx="8153126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ЗАКАЗЧИКА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найма: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проекты, отклики, депонирование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05213" y="2194329"/>
            <a:ext cx="7329441" cy="3749194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проекты, отклики и состояние счетов депонирования — на одном экране.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44312" y="2194329"/>
            <a:ext cx="4264503" cy="3749193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863840" y="6336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работы из портфолио: метаданные, экспертная проверка, уровни доступа.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DAAA5D7-F592-6E04-3B45-078FC36EC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14" y="2194329"/>
            <a:ext cx="7329441" cy="374919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9C629AB-C253-0E7E-7385-62B73DA4C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312" y="2194328"/>
            <a:ext cx="4264503" cy="3749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СПЕЦИАЛИСТА · СПЕЦИАЛИЗАЦИИ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Структурированные специализации,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стек ПО и типы объектов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3504" y="2295144"/>
            <a:ext cx="7845552" cy="400507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pptx_v2/profile_spe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7772400" cy="3931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336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специализация подтверждена. Стек ПО — с уровнем владения. Типы объектов и отрасли — отдельные срезы для поиска.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ПОДБОРА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0" y="27340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7824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0848" y="26974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Специализации (АР ГАП, фасады и т. д.)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78240" y="32369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7824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070848" y="32004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ПО с уровнем владения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37398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7824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70848" y="37033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объектов (жилые, БЦ, ТЦ)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78240" y="42428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78240" y="4242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070848" y="42062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Отрасли (жилая, коммерческая, общественные)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0" y="521208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61120" y="5394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ЗАКАЗЧИКУ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961120" y="5623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точно отфильтровать исполнителей по нужному ПО, типу объекта и квалификации.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СПЕЦИАЛИСТА · ОПЫТ И ОБРАЗОВАНИЕ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 карьеры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подтверждёнными местами работы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3504" y="2295144"/>
            <a:ext cx="7845552" cy="400507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pptx_v2/profile_experie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7772400" cy="3931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336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работы по годам: должность, организация, ключевые достижения. Проверяется при подтверждении профиля.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 В ОПЫТЕ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0" y="27340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7824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0848" y="2697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Периоды работы (год — год)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78240" y="31912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78240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070848" y="31546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Должности и роли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36484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78240" y="3648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70848" y="36118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 (с верификацией)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78240" y="41056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7824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070848" y="40690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проекты и достижения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0" y="45628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778240" y="4562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070848" y="45262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 и сертификаты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778240" y="521208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E7EAF4"/>
          </a:solidFill>
          <a:ln w="9525">
            <a:solidFill>
              <a:srgbClr val="C2C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961120" y="5394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ПРИПИСОК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961120" y="5623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 сверяет указанные места работы с реестрами и проектной документацией.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СПЕЦИАЛИСТА · ОТЗЫВЫ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по пяти критериям,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только после реальной сделки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3504" y="2295144"/>
            <a:ext cx="7845552" cy="400507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pptx_v2/profile_review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7772400" cy="3931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336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работы, соблюдение сроков, коммуникация, готовность к правкам, профессионализм. Отзыв оставляет только заказчик с завершённой сделкой.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КРИТЕРИЕВ ОЦЕНКИ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0" y="2788920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работы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317296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961120" y="3099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сроков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78240" y="3557016"/>
            <a:ext cx="91440" cy="91440"/>
          </a:xfrm>
          <a:prstGeom prst="ellipse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96112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3941064"/>
            <a:ext cx="91440" cy="91440"/>
          </a:xfrm>
          <a:prstGeom prst="ellipse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961120" y="3867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 правкам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78240" y="4325112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96112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Профессионализм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778240" y="493776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НАКРУТОК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961120" y="54315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61120" y="5431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253728" y="53949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 только после оплаты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61120" y="5724144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961120" y="5724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253728" y="56875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Двусторонняя оценка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961120" y="6016752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961120" y="6016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253728" y="598017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спорных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411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928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предлагаем </a:t>
            </a:r>
            <a:r>
              <a:rPr lang="en-US" sz="4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обсудить дальше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 ВЗАИМОДЕЙСТВИЯ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41970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61288" y="4160520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Демонстрационный доступ к платформе на [N] недель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544568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544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" y="4507992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проект на ограниченной группе подрядчиков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892040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" y="4855464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Детальное техзадание под требования заказчика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5239512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239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" y="5202936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ТЭО проекта внедрения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3840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ОТ ЗАКАЗЧИКА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41970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76288" y="4160520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безопасности (ФСТЭК, ФСБ — если применимо)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4544568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4544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76288" y="4507992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целевых интеграций (СЭД, ERP, реестры)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4892040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76288" y="4855464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объём: подрядчиков, проектов, пользователей в год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5239512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0" y="5239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76288" y="5202936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использования с приоритетом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1443</Words>
  <Application>Microsoft Office PowerPoint</Application>
  <PresentationFormat>Широкоэкранный</PresentationFormat>
  <Paragraphs>350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PPK · Презентация для государственного заказчика</dc:title>
  <dc:subject>PptxGenJS Presentation</dc:subject>
  <dc:creator>PPK</dc:creator>
  <cp:lastModifiedBy>Евгений</cp:lastModifiedBy>
  <cp:revision>4</cp:revision>
  <dcterms:created xsi:type="dcterms:W3CDTF">2026-05-20T19:43:50Z</dcterms:created>
  <dcterms:modified xsi:type="dcterms:W3CDTF">2026-05-21T09:23:02Z</dcterms:modified>
</cp:coreProperties>
</file>